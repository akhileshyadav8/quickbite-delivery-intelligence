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-640080"/>
            <a:ext cx="2926080" cy="29260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5120640"/>
            <a:ext cx="2560320" cy="25603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4754880"/>
            <a:ext cx="2743200" cy="2743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QuickBite Delivery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2E8F0"/>
                </a:solidFill>
              </a:rPr>
              <a:t>End-to-end data analytics project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</a:rPr>
              <a:t>Project focus: data cleaning, EDA, SQL insights, Folium map, Plotly dashboard, and classification for late delivery prediction.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24688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  <a:r>
              <a:rPr sz="1200" b="1">
                <a:solidFill>
                  <a:srgbClr val="475569"/>
                </a:solidFill>
              </a:rPr>
              <a:t>Dataset</a:t>
            </a:r>
          </a:p>
          <a:p>
            <a:pPr algn="ctr"/>
            <a:r>
              <a:rPr sz="2000" b="1">
                <a:solidFill>
                  <a:srgbClr val="0F172A"/>
                </a:solidFill>
              </a:rPr>
              <a:t>3,200 orders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3749039"/>
            <a:ext cx="24688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  <a:r>
              <a:rPr sz="1200" b="1">
                <a:solidFill>
                  <a:srgbClr val="475569"/>
                </a:solidFill>
              </a:rPr>
              <a:t>Cities</a:t>
            </a:r>
          </a:p>
          <a:p>
            <a:pPr algn="ctr"/>
            <a:r>
              <a:rPr sz="2000" b="1">
                <a:solidFill>
                  <a:srgbClr val="0F172A"/>
                </a:solidFill>
              </a:rPr>
              <a:t>6 Indian cities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3749039"/>
            <a:ext cx="24688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  <a:r>
              <a:rPr sz="1200" b="1">
                <a:solidFill>
                  <a:srgbClr val="475569"/>
                </a:solidFill>
              </a:rPr>
              <a:t>Model</a:t>
            </a:r>
          </a:p>
          <a:p>
            <a:pPr algn="ctr"/>
            <a:r>
              <a:rPr sz="2000" b="1">
                <a:solidFill>
                  <a:srgbClr val="0F172A"/>
                </a:solidFill>
              </a:rPr>
              <a:t>Random Forest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3749039"/>
            <a:ext cx="2468880" cy="100584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  <a:r>
              <a:rPr sz="1200" b="1">
                <a:solidFill>
                  <a:srgbClr val="475569"/>
                </a:solidFill>
              </a:rPr>
              <a:t>Accuracy</a:t>
            </a:r>
          </a:p>
          <a:p>
            <a:pPr algn="ctr"/>
            <a:r>
              <a:rPr sz="2000" b="1">
                <a:solidFill>
                  <a:srgbClr val="0F172A"/>
                </a:solidFill>
              </a:rPr>
              <a:t>88.5%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669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</a:rPr>
              <a:t>Prepared as a complete presentation package for academic submission.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008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137160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2E8F0"/>
                </a:solidFill>
              </a:rPr>
              <a:t>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60120"/>
            <a:ext cx="2743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  <a:r>
              <a:rPr sz="1200" b="1">
                <a:solidFill>
                  <a:srgbClr val="475569"/>
                </a:solidFill>
              </a:rPr>
              <a:t>Volume</a:t>
            </a:r>
          </a:p>
          <a:p>
            <a:pPr algn="ctr"/>
            <a:r>
              <a:rPr sz="2000" b="1">
                <a:solidFill>
                  <a:srgbClr val="0F172A"/>
                </a:solidFill>
              </a:rPr>
              <a:t>3,200 orders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960120"/>
            <a:ext cx="2743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  <a:r>
              <a:rPr sz="1200" b="1">
                <a:solidFill>
                  <a:srgbClr val="475569"/>
                </a:solidFill>
              </a:rPr>
              <a:t>Revenue</a:t>
            </a:r>
          </a:p>
          <a:p>
            <a:pPr algn="ctr"/>
            <a:r>
              <a:rPr sz="2000" b="1">
                <a:solidFill>
                  <a:srgbClr val="0F172A"/>
                </a:solidFill>
              </a:rPr>
              <a:t>INR 9.28L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960120"/>
            <a:ext cx="2743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  <a:r>
              <a:rPr sz="1200" b="1">
                <a:solidFill>
                  <a:srgbClr val="475569"/>
                </a:solidFill>
              </a:rPr>
              <a:t>Best city</a:t>
            </a:r>
          </a:p>
          <a:p>
            <a:pPr algn="ctr"/>
            <a:r>
              <a:rPr sz="2000" b="1">
                <a:solidFill>
                  <a:srgbClr val="0F172A"/>
                </a:solidFill>
              </a:rPr>
              <a:t>Mumbai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81160" y="960120"/>
            <a:ext cx="2423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  <a:r>
              <a:rPr sz="1200" b="1">
                <a:solidFill>
                  <a:srgbClr val="475569"/>
                </a:solidFill>
              </a:rPr>
              <a:t>Risk zone</a:t>
            </a:r>
          </a:p>
          <a:p>
            <a:pPr algn="ctr"/>
            <a:r>
              <a:rPr sz="2000" b="1">
                <a:solidFill>
                  <a:srgbClr val="0F172A"/>
                </a:solidFill>
              </a:rPr>
              <a:t>Surat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Traffic and weather are the strongest operational drivers of delay.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Mumbai leads in revenue and has the lowest late-delivery rate.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Surat and Pune need tighter SLA control and better routing.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The classifier reaches 0.885 accuracy and 0.962 ROC-AUC.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2377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Key deliverables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743200"/>
            <a:ext cx="5486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F172A"/>
                </a:solidFill>
              </a:defRPr>
            </a:pPr>
            <a:r>
              <a:t>Cleaned dataset with geospatial fields and delivery KPIs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EDA visuals for demand, value, rating, and lateness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SQL-based business questions and answer tables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Folium map and Plotly dashboard preview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Late-delivery classification with feature importance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008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137160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2E8F0"/>
                </a:solidFill>
              </a:rPr>
              <a:t>Problem statement and goals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914400"/>
            <a:ext cx="5394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  <a:r>
              <a:rPr sz="1200" b="1">
                <a:solidFill>
                  <a:srgbClr val="475569"/>
                </a:solidFill>
              </a:rPr>
              <a:t>Business problem</a:t>
            </a:r>
          </a:p>
          <a:p>
            <a:pPr algn="ctr"/>
            <a:r>
              <a:rPr sz="2000" b="1">
                <a:solidFill>
                  <a:srgbClr val="0F172A"/>
                </a:solidFill>
              </a:rPr>
              <a:t>Operations teams need to know where, when, and why delivery delays happen.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914400"/>
            <a:ext cx="5394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  <a:r>
              <a:rPr sz="1200" b="1">
                <a:solidFill>
                  <a:srgbClr val="475569"/>
                </a:solidFill>
              </a:rPr>
              <a:t>Objective</a:t>
            </a:r>
          </a:p>
          <a:p>
            <a:pPr algn="ctr"/>
            <a:r>
              <a:rPr sz="2000" b="1">
                <a:solidFill>
                  <a:srgbClr val="0F172A"/>
                </a:solidFill>
              </a:rPr>
              <a:t>Turn raw order data into decisions that improve SLA, routing, and customer satisfaction.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5486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Track demand, revenue, and lateness across cities and time windows.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Use SQL to answer repeatable business questions fast.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Visualize city hotspots and traffic pressure on a map.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Build a classification model to predict late orders early.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743200"/>
            <a:ext cx="5120640" cy="201168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  <a:r>
              <a:rPr sz="1200" b="1">
                <a:solidFill>
                  <a:srgbClr val="475569"/>
                </a:solidFill>
              </a:rPr>
              <a:t>Success metrics</a:t>
            </a:r>
          </a:p>
          <a:p>
            <a:pPr algn="ctr"/>
            <a:r>
              <a:rPr sz="2000" b="1">
                <a:solidFill>
                  <a:srgbClr val="0F172A"/>
                </a:solidFill>
              </a:rPr>
              <a:t>Faster decisions, fewer late orders, and a usable analytics workflow.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008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Data Collection and Wrangling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137160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2E8F0"/>
                </a:solidFill>
              </a:rPr>
              <a:t>How the dataset was prepared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237744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  <a:r>
              <a:rPr sz="1200" b="1">
                <a:solidFill>
                  <a:srgbClr val="475569"/>
                </a:solidFill>
              </a:rPr>
              <a:t>Collect</a:t>
            </a:r>
          </a:p>
          <a:p>
            <a:pPr algn="ctr"/>
            <a:r>
              <a:rPr sz="2000" b="1">
                <a:solidFill>
                  <a:srgbClr val="0F172A"/>
                </a:solidFill>
              </a:rPr>
              <a:t>Synthetic order records were generated with city, time, location, and service fields.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188720"/>
            <a:ext cx="237744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  <a:r>
              <a:rPr sz="1200" b="1">
                <a:solidFill>
                  <a:srgbClr val="475569"/>
                </a:solidFill>
              </a:rPr>
              <a:t>Validate</a:t>
            </a:r>
          </a:p>
          <a:p>
            <a:pPr algn="ctr"/>
            <a:r>
              <a:rPr sz="2000" b="1">
                <a:solidFill>
                  <a:srgbClr val="0F172A"/>
                </a:solidFill>
              </a:rPr>
              <a:t>Missing values, duplicates, and impossible values were checked and removed.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188720"/>
            <a:ext cx="237744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  <a:r>
              <a:rPr sz="1200" b="1">
                <a:solidFill>
                  <a:srgbClr val="475569"/>
                </a:solidFill>
              </a:rPr>
              <a:t>Transform</a:t>
            </a:r>
          </a:p>
          <a:p>
            <a:pPr algn="ctr"/>
            <a:r>
              <a:rPr sz="2000" b="1">
                <a:solidFill>
                  <a:srgbClr val="0F172A"/>
                </a:solidFill>
              </a:rPr>
              <a:t>Date fields, ratings, lateness label, and categorical encodings were standardized.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0" y="1188720"/>
            <a:ext cx="237744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  <a:r>
              <a:rPr sz="1200" b="1">
                <a:solidFill>
                  <a:srgbClr val="475569"/>
                </a:solidFill>
              </a:rPr>
              <a:t>Store</a:t>
            </a:r>
          </a:p>
          <a:p>
            <a:pPr algn="ctr"/>
            <a:r>
              <a:rPr sz="2000" b="1">
                <a:solidFill>
                  <a:srgbClr val="0F172A"/>
                </a:solidFill>
              </a:rPr>
              <a:t>Final data was saved as CSV and loaded into SQLite for SQL analysis.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Cleaning rules applied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F172A"/>
                </a:solidFill>
              </a:defRPr>
            </a:pPr>
            <a:r>
              <a:t>Clipped negative values and outliers in price, distance, and delivery time.</a:t>
            </a:r>
          </a:p>
          <a:p>
            <a:pPr>
              <a:defRPr sz="1500">
                <a:solidFill>
                  <a:srgbClr val="0F172A"/>
                </a:solidFill>
              </a:defRPr>
            </a:pPr>
            <a:r>
              <a:t>Derived order_hour, weekday, weekend, and late_delivery features.</a:t>
            </a:r>
          </a:p>
          <a:p>
            <a:pPr>
              <a:defRPr sz="1500">
                <a:solidFill>
                  <a:srgbClr val="0F172A"/>
                </a:solidFill>
              </a:defRPr>
            </a:pPr>
            <a:r>
              <a:t>Unified city names and categorical labels for analysis and modeling.</a:t>
            </a:r>
          </a:p>
          <a:p>
            <a:pPr>
              <a:defRPr sz="1500">
                <a:solidFill>
                  <a:srgbClr val="0F172A"/>
                </a:solidFill>
              </a:defRPr>
            </a:pPr>
            <a:r>
              <a:t>Created lat/lon coordinates for map-based visualization.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008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EDA and Interactive Visual Analytics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137160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2E8F0"/>
                </a:solidFill>
              </a:rPr>
              <a:t>Exploration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26517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  <a:r>
              <a:rPr sz="1200" b="1">
                <a:solidFill>
                  <a:srgbClr val="475569"/>
                </a:solidFill>
              </a:rPr>
              <a:t>1. Question</a:t>
            </a:r>
          </a:p>
          <a:p>
            <a:pPr algn="ctr"/>
            <a:r>
              <a:rPr sz="2000" b="1">
                <a:solidFill>
                  <a:srgbClr val="0F172A"/>
                </a:solidFill>
              </a:rPr>
              <a:t>What drives delay and revenue?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097280"/>
            <a:ext cx="26517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  <a:r>
              <a:rPr sz="1200" b="1">
                <a:solidFill>
                  <a:srgbClr val="475569"/>
                </a:solidFill>
              </a:rPr>
              <a:t>2. Segment</a:t>
            </a:r>
          </a:p>
          <a:p>
            <a:pPr algn="ctr"/>
            <a:r>
              <a:rPr sz="2000" b="1">
                <a:solidFill>
                  <a:srgbClr val="0F172A"/>
                </a:solidFill>
              </a:rPr>
              <a:t>By city, traffic, weather, and 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097280"/>
            <a:ext cx="26517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  <a:r>
              <a:rPr sz="1200" b="1">
                <a:solidFill>
                  <a:srgbClr val="475569"/>
                </a:solidFill>
              </a:rPr>
              <a:t>3. Visualize</a:t>
            </a:r>
          </a:p>
          <a:p>
            <a:pPr algn="ctr"/>
            <a:r>
              <a:rPr sz="2000" b="1">
                <a:solidFill>
                  <a:srgbClr val="0F172A"/>
                </a:solidFill>
              </a:rPr>
              <a:t>Bars, lines, scatter, heatmaps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89720" y="1097280"/>
            <a:ext cx="24231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  <a:r>
              <a:rPr sz="1200" b="1">
                <a:solidFill>
                  <a:srgbClr val="475569"/>
                </a:solidFill>
              </a:rPr>
              <a:t>4. Act</a:t>
            </a:r>
          </a:p>
          <a:p>
            <a:pPr algn="ctr"/>
            <a:r>
              <a:rPr sz="2000" b="1">
                <a:solidFill>
                  <a:srgbClr val="0F172A"/>
                </a:solidFill>
              </a:rPr>
              <a:t>Find fixes for SLA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5669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EDA was used to spot patterns before modeling.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Interactive views were planned for city and zone-level filtering.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Charts were designed to answer one question per slide.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The output is easy to present and easy to extend.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2743200"/>
            <a:ext cx="4846320" cy="2103120"/>
          </a:xfrm>
          <a:prstGeom prst="roundRect">
            <a:avLst/>
          </a:prstGeom>
          <a:solidFill>
            <a:srgbClr val="ECFDF5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  <a:r>
              <a:rPr sz="1200" b="1">
                <a:solidFill>
                  <a:srgbClr val="475569"/>
                </a:solidFill>
              </a:rPr>
              <a:t>Tools used</a:t>
            </a:r>
          </a:p>
          <a:p>
            <a:pPr algn="ctr"/>
            <a:r>
              <a:rPr sz="2000" b="1">
                <a:solidFill>
                  <a:srgbClr val="0F172A"/>
                </a:solidFill>
              </a:rPr>
              <a:t>Pandas, Matplotlib, Seaborn, SQLite, Folium, Plotly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008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EDA Results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137160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2E8F0"/>
                </a:solidFill>
              </a:rPr>
              <a:t>Order volume by city</a:t>
            </a:r>
          </a:p>
        </p:txBody>
      </p:sp>
      <p:pic>
        <p:nvPicPr>
          <p:cNvPr id="5" name="Picture 4" descr="eda_orders_by_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6583680" cy="4206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06640" y="1280160"/>
            <a:ext cx="4114800" cy="91440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  <a:r>
              <a:rPr sz="1200" b="1">
                <a:solidFill>
                  <a:srgbClr val="475569"/>
                </a:solidFill>
              </a:rPr>
              <a:t>Top city</a:t>
            </a:r>
          </a:p>
          <a:p>
            <a:pPr algn="ctr"/>
            <a:r>
              <a:rPr sz="2000" b="1">
                <a:solidFill>
                  <a:srgbClr val="0F172A"/>
                </a:solidFill>
              </a:rPr>
              <a:t>Mumbai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2377440"/>
            <a:ext cx="4114800" cy="91440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  <a:r>
              <a:rPr sz="1200" b="1">
                <a:solidFill>
                  <a:srgbClr val="475569"/>
                </a:solidFill>
              </a:rPr>
              <a:t>Lowest volume</a:t>
            </a:r>
          </a:p>
          <a:p>
            <a:pPr algn="ctr"/>
            <a:r>
              <a:rPr sz="2000" b="1">
                <a:solidFill>
                  <a:srgbClr val="0F172A"/>
                </a:solidFill>
              </a:rPr>
              <a:t>Surat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3566160"/>
            <a:ext cx="4297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F172A"/>
                </a:solidFill>
              </a:defRPr>
            </a:pPr>
            <a:r>
              <a:t>Demand is concentrated in Mumbai, Delhi NCR, and Bengaluru.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Smaller cities can be targeted with local promos.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008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EDA Results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137160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2E8F0"/>
                </a:solidFill>
              </a:rPr>
              <a:t>Delivery time rises with traffic</a:t>
            </a:r>
          </a:p>
        </p:txBody>
      </p:sp>
      <p:pic>
        <p:nvPicPr>
          <p:cNvPr id="5" name="Picture 4" descr="eda_delivery_by_traff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6583680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06640" y="1280160"/>
            <a:ext cx="4206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F172A"/>
                </a:solidFill>
              </a:defRPr>
            </a:pPr>
            <a:r>
              <a:t>Low traffic averages about 43.4 minutes.</a:t>
            </a:r>
          </a:p>
          <a:p>
            <a:pPr>
              <a:defRPr sz="1500">
                <a:solidFill>
                  <a:srgbClr val="0F172A"/>
                </a:solidFill>
              </a:defRPr>
            </a:pPr>
            <a:r>
              <a:t>Very high traffic crosses 66 minutes.</a:t>
            </a:r>
          </a:p>
          <a:p>
            <a:pPr>
              <a:defRPr sz="1500">
                <a:solidFill>
                  <a:srgbClr val="0F172A"/>
                </a:solidFill>
              </a:defRPr>
            </a:pPr>
            <a:r>
              <a:t>Traffic control is the fastest lever for improvement.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3931920"/>
            <a:ext cx="4206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  <a:r>
              <a:rPr sz="1200" b="1">
                <a:solidFill>
                  <a:srgbClr val="475569"/>
                </a:solidFill>
              </a:rPr>
              <a:t>Operational takeaway</a:t>
            </a:r>
          </a:p>
          <a:p>
            <a:pPr algn="ctr"/>
            <a:r>
              <a:rPr sz="2000" b="1">
                <a:solidFill>
                  <a:srgbClr val="0F172A"/>
                </a:solidFill>
              </a:rPr>
              <a:t>Traffic-aware routing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008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EDA Results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137160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2E8F0"/>
                </a:solidFill>
              </a:rPr>
              <a:t>Hourly demand pattern</a:t>
            </a:r>
          </a:p>
        </p:txBody>
      </p:sp>
      <p:pic>
        <p:nvPicPr>
          <p:cNvPr id="5" name="Picture 4" descr="eda_hourly_dem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6583680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06640" y="1280160"/>
            <a:ext cx="4389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F172A"/>
                </a:solidFill>
              </a:defRPr>
            </a:pPr>
            <a:r>
              <a:t>Orders peak around lunch and dinner hours.</a:t>
            </a:r>
          </a:p>
          <a:p>
            <a:pPr>
              <a:defRPr sz="1500">
                <a:solidFill>
                  <a:srgbClr val="0F172A"/>
                </a:solidFill>
              </a:defRPr>
            </a:pPr>
            <a:r>
              <a:t>Late-night demand is low and more variable.</a:t>
            </a:r>
          </a:p>
          <a:p>
            <a:pPr>
              <a:defRPr sz="1500">
                <a:solidFill>
                  <a:srgbClr val="0F172A"/>
                </a:solidFill>
              </a:defRPr>
            </a:pPr>
            <a:r>
              <a:t>Driver staffing should be shifted to the 12-14 and 19-21 windows.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4023360"/>
            <a:ext cx="4206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  <a:r>
              <a:rPr sz="1200" b="1">
                <a:solidFill>
                  <a:srgbClr val="475569"/>
                </a:solidFill>
              </a:rPr>
              <a:t>Peak hours</a:t>
            </a:r>
          </a:p>
          <a:p>
            <a:pPr algn="ctr"/>
            <a:r>
              <a:rPr sz="2000" b="1">
                <a:solidFill>
                  <a:srgbClr val="0F172A"/>
                </a:solidFill>
              </a:rPr>
              <a:t>12-14 and 19-21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008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EDA Results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137160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2E8F0"/>
                </a:solidFill>
              </a:rPr>
              <a:t>Order value distribution</a:t>
            </a:r>
          </a:p>
        </p:txBody>
      </p:sp>
      <p:pic>
        <p:nvPicPr>
          <p:cNvPr id="5" name="Picture 4" descr="eda_order_value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6583680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06640" y="1280160"/>
            <a:ext cx="4389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F172A"/>
                </a:solidFill>
              </a:defRPr>
            </a:pPr>
            <a:r>
              <a:t>Most baskets cluster around mid-range ticket sizes.</a:t>
            </a:r>
          </a:p>
          <a:p>
            <a:pPr>
              <a:defRPr sz="1500">
                <a:solidFill>
                  <a:srgbClr val="0F172A"/>
                </a:solidFill>
              </a:defRPr>
            </a:pPr>
            <a:r>
              <a:t>A small premium tail lifts revenue but also prep time.</a:t>
            </a:r>
          </a:p>
          <a:p>
            <a:pPr>
              <a:defRPr sz="1500">
                <a:solidFill>
                  <a:srgbClr val="0F172A"/>
                </a:solidFill>
              </a:defRPr>
            </a:pPr>
            <a:r>
              <a:t>Cross-sell bundles can raise average order value.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4023360"/>
            <a:ext cx="4206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  <a:r>
              <a:rPr sz="1200" b="1">
                <a:solidFill>
                  <a:srgbClr val="475569"/>
                </a:solidFill>
              </a:rPr>
              <a:t>Revenue insight</a:t>
            </a:r>
          </a:p>
          <a:p>
            <a:pPr algn="ctr"/>
            <a:r>
              <a:rPr sz="2000" b="1">
                <a:solidFill>
                  <a:srgbClr val="0F172A"/>
                </a:solidFill>
              </a:rPr>
              <a:t>Mid-range dominates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008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EDA Results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137160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2E8F0"/>
                </a:solidFill>
              </a:rPr>
              <a:t>Customer rating falls as delivery time increases</a:t>
            </a:r>
          </a:p>
        </p:txBody>
      </p:sp>
      <p:pic>
        <p:nvPicPr>
          <p:cNvPr id="5" name="Picture 4" descr="eda_rating_vs_deliv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6583680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06640" y="1280160"/>
            <a:ext cx="4389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F172A"/>
                </a:solidFill>
              </a:defRPr>
            </a:pPr>
            <a:r>
              <a:t>The scatter trends downward as delivery time grows.</a:t>
            </a:r>
          </a:p>
          <a:p>
            <a:pPr>
              <a:defRPr sz="1500">
                <a:solidFill>
                  <a:srgbClr val="0F172A"/>
                </a:solidFill>
              </a:defRPr>
            </a:pPr>
            <a:r>
              <a:t>Slow deliveries hurt ratings even when food quality is stable.</a:t>
            </a:r>
          </a:p>
          <a:p>
            <a:pPr>
              <a:defRPr sz="1500">
                <a:solidFill>
                  <a:srgbClr val="0F172A"/>
                </a:solidFill>
              </a:defRPr>
            </a:pPr>
            <a:r>
              <a:t>Delay control is also a customer experience strategy.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4023360"/>
            <a:ext cx="4206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  <a:r>
              <a:rPr sz="1200" b="1">
                <a:solidFill>
                  <a:srgbClr val="475569"/>
                </a:solidFill>
              </a:rPr>
              <a:t>Risk signal</a:t>
            </a:r>
          </a:p>
          <a:p>
            <a:pPr algn="ctr"/>
            <a:r>
              <a:rPr sz="2000" b="1">
                <a:solidFill>
                  <a:srgbClr val="0F172A"/>
                </a:solidFill>
              </a:rPr>
              <a:t>Long waits = lower ratings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008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EDA Results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137160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2E8F0"/>
                </a:solidFill>
              </a:rPr>
              <a:t>Late delivery spikes in bad weather</a:t>
            </a:r>
          </a:p>
        </p:txBody>
      </p:sp>
      <p:pic>
        <p:nvPicPr>
          <p:cNvPr id="5" name="Picture 4" descr="eda_late_by_weath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6583680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06640" y="1280160"/>
            <a:ext cx="4389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F172A"/>
                </a:solidFill>
              </a:defRPr>
            </a:pPr>
            <a:r>
              <a:t>Storms are the worst condition for SLA breach.</a:t>
            </a:r>
          </a:p>
          <a:p>
            <a:pPr>
              <a:defRPr sz="1500">
                <a:solidFill>
                  <a:srgbClr val="0F172A"/>
                </a:solidFill>
              </a:defRPr>
            </a:pPr>
            <a:r>
              <a:t>Rain also raises lateness, but less severely.</a:t>
            </a:r>
          </a:p>
          <a:p>
            <a:pPr>
              <a:defRPr sz="1500">
                <a:solidFill>
                  <a:srgbClr val="0F172A"/>
                </a:solidFill>
              </a:defRPr>
            </a:pPr>
            <a:r>
              <a:t>Weather alerts should trigger routing buffers.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4023360"/>
            <a:ext cx="42062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  <a:r>
              <a:rPr sz="1200" b="1">
                <a:solidFill>
                  <a:srgbClr val="475569"/>
                </a:solidFill>
              </a:rPr>
              <a:t>Best condition</a:t>
            </a:r>
          </a:p>
          <a:p>
            <a:pPr algn="ctr"/>
            <a:r>
              <a:rPr sz="2000" b="1">
                <a:solidFill>
                  <a:srgbClr val="0F172A"/>
                </a:solidFill>
              </a:rPr>
              <a:t>Clear weather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008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EDA with SQL Results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137160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2E8F0"/>
                </a:solidFill>
              </a:rPr>
              <a:t>Revenue ranking by city</a:t>
            </a:r>
          </a:p>
        </p:txBody>
      </p:sp>
      <p:pic>
        <p:nvPicPr>
          <p:cNvPr id="5" name="Picture 4" descr="sql_revenue_by_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5486400" cy="4206240"/>
          </a:xfrm>
          <a:prstGeom prst="rect">
            <a:avLst/>
          </a:prstGeom>
        </p:spPr>
      </p:pic>
      <p:pic>
        <p:nvPicPr>
          <p:cNvPr id="6" name="Picture 5" descr="sql_city_revenue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34440"/>
            <a:ext cx="5303520" cy="2560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3977639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F172A"/>
                </a:solidFill>
              </a:defRPr>
            </a:pPr>
            <a:r>
              <a:t>Mumbai produces the highest revenue.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Surat contributes the least revenue and also needs demand growth.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008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EDA with SQL Results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137160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2E8F0"/>
                </a:solidFill>
              </a:rPr>
              <a:t>Cuisine performance</a:t>
            </a:r>
          </a:p>
        </p:txBody>
      </p:sp>
      <p:pic>
        <p:nvPicPr>
          <p:cNvPr id="5" name="Picture 4" descr="sql_orders_by_cuis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5486400" cy="4206240"/>
          </a:xfrm>
          <a:prstGeom prst="rect">
            <a:avLst/>
          </a:prstGeom>
        </p:spPr>
      </p:pic>
      <p:pic>
        <p:nvPicPr>
          <p:cNvPr id="6" name="Picture 5" descr="sql_cuisine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34440"/>
            <a:ext cx="5303520" cy="2926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42976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F172A"/>
                </a:solidFill>
              </a:defRPr>
            </a:pPr>
            <a:r>
              <a:t>Indian and Chinese cuisines drive the biggest volume.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Biryani gives strong revenue with solid ratings.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008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EDA with SQL Results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137160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2E8F0"/>
                </a:solidFill>
              </a:rPr>
              <a:t>Hourly peaks and operational timing</a:t>
            </a:r>
          </a:p>
        </p:txBody>
      </p:sp>
      <p:pic>
        <p:nvPicPr>
          <p:cNvPr id="5" name="Picture 4" descr="eda_hourly_dem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5760720" cy="4206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37960" y="1280160"/>
            <a:ext cx="4572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  <a:r>
              <a:rPr sz="1200" b="1">
                <a:solidFill>
                  <a:srgbClr val="475569"/>
                </a:solidFill>
              </a:rPr>
              <a:t>Top order hours</a:t>
            </a:r>
          </a:p>
          <a:p>
            <a:pPr algn="ctr"/>
            <a:r>
              <a:rPr sz="2000" b="1">
                <a:solidFill>
                  <a:srgbClr val="0F172A"/>
                </a:solidFill>
              </a:rPr>
              <a:t>12-14 and 19-21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2377440"/>
            <a:ext cx="4572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F172A"/>
                </a:solidFill>
              </a:defRPr>
            </a:pPr>
            <a:r>
              <a:t>Lunch and dinner are the two demand spikes.</a:t>
            </a:r>
          </a:p>
          <a:p>
            <a:pPr>
              <a:defRPr sz="1500">
                <a:solidFill>
                  <a:srgbClr val="0F172A"/>
                </a:solidFill>
              </a:defRPr>
            </a:pPr>
            <a:r>
              <a:t>Mid-morning and late-night windows are much lighter.</a:t>
            </a:r>
          </a:p>
          <a:p>
            <a:pPr>
              <a:defRPr sz="1500">
                <a:solidFill>
                  <a:srgbClr val="0F172A"/>
                </a:solidFill>
              </a:defRPr>
            </a:pPr>
            <a:r>
              <a:t>Staffing should scale around these peaks.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008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EDA with SQL Results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137160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2E8F0"/>
                </a:solidFill>
              </a:rPr>
              <a:t>Traffic vs SLA table</a:t>
            </a:r>
          </a:p>
        </p:txBody>
      </p:sp>
      <p:pic>
        <p:nvPicPr>
          <p:cNvPr id="5" name="Picture 4" descr="sql_traffic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71600"/>
            <a:ext cx="5120640" cy="2743200"/>
          </a:xfrm>
          <a:prstGeom prst="rect">
            <a:avLst/>
          </a:prstGeom>
        </p:spPr>
      </p:pic>
      <p:pic>
        <p:nvPicPr>
          <p:cNvPr id="6" name="Picture 5" descr="sql_avg_delivery_by_c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188720"/>
            <a:ext cx="548640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443484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F172A"/>
                </a:solidFill>
              </a:defRPr>
            </a:pPr>
            <a:r>
              <a:t>Average delivery time jumps sharply when traffic moves from Medium to Very High.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This is the clearest sign that routing and batching need attention.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008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EDA with SQL Results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137160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2E8F0"/>
                </a:solidFill>
              </a:rPr>
              <a:t>City and weather risk matrix</a:t>
            </a:r>
          </a:p>
        </p:txBody>
      </p:sp>
      <p:pic>
        <p:nvPicPr>
          <p:cNvPr id="5" name="Picture 4" descr="sql_city_weather_heatmap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766560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371600"/>
            <a:ext cx="3749039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F172A"/>
                </a:solidFill>
              </a:defRPr>
            </a:pPr>
            <a:r>
              <a:t>Surat and Pune show the sharpest weather-linked lateness.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Mumbai is comparatively resilient in every weather class.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This matrix helps set city-specific buffer rules.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4206240"/>
            <a:ext cx="3749039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  <a:r>
              <a:rPr sz="1200" b="1">
                <a:solidFill>
                  <a:srgbClr val="475569"/>
                </a:solidFill>
              </a:rPr>
              <a:t>Best practice</a:t>
            </a:r>
          </a:p>
          <a:p>
            <a:pPr algn="ctr"/>
            <a:r>
              <a:rPr sz="2000" b="1">
                <a:solidFill>
                  <a:srgbClr val="0F172A"/>
                </a:solidFill>
              </a:rPr>
              <a:t>Use city buffers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008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Interactive Map with Folium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137160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2E8F0"/>
                </a:solidFill>
              </a:rPr>
              <a:t>Geospatial delivery hotspots</a:t>
            </a:r>
          </a:p>
        </p:txBody>
      </p:sp>
      <p:pic>
        <p:nvPicPr>
          <p:cNvPr id="5" name="Picture 4" descr="map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7132320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55279" y="1325880"/>
            <a:ext cx="3657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F172A"/>
                </a:solidFill>
              </a:defRPr>
            </a:pPr>
            <a:r>
              <a:t>Hotspots cluster around major city centers.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Late orders are denser in longer-route zones.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The interactive Folium HTML is included in the project folder.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4160520"/>
            <a:ext cx="36576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  <a:r>
              <a:rPr sz="1200" b="1">
                <a:solidFill>
                  <a:srgbClr val="475569"/>
                </a:solidFill>
              </a:rPr>
              <a:t>Map insight</a:t>
            </a:r>
          </a:p>
          <a:p>
            <a:pPr algn="ctr"/>
            <a:r>
              <a:rPr sz="2000" b="1">
                <a:solidFill>
                  <a:srgbClr val="0F172A"/>
                </a:solidFill>
              </a:rPr>
              <a:t>City hotspots are visible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008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Plotly Dashboard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137160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2E8F0"/>
                </a:solidFill>
              </a:rPr>
              <a:t>Operational snapshot</a:t>
            </a:r>
          </a:p>
        </p:txBody>
      </p:sp>
      <p:pic>
        <p:nvPicPr>
          <p:cNvPr id="5" name="Picture 4" descr="dashboard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05840"/>
            <a:ext cx="11155680" cy="5349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064240" y="64008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Predictive Analysis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137160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2E8F0"/>
                </a:solidFill>
              </a:rPr>
              <a:t>Late delivery classification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05840"/>
            <a:ext cx="27432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  <a:r>
              <a:rPr sz="1200" b="1">
                <a:solidFill>
                  <a:srgbClr val="475569"/>
                </a:solidFill>
              </a:rPr>
              <a:t>Target</a:t>
            </a:r>
          </a:p>
          <a:p>
            <a:pPr algn="ctr"/>
            <a:r>
              <a:rPr sz="2000" b="1">
                <a:solidFill>
                  <a:srgbClr val="0F172A"/>
                </a:solidFill>
              </a:rPr>
              <a:t>late_delivery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005840"/>
            <a:ext cx="27432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  <a:r>
              <a:rPr sz="1200" b="1">
                <a:solidFill>
                  <a:srgbClr val="475569"/>
                </a:solidFill>
              </a:rPr>
              <a:t>Model</a:t>
            </a:r>
          </a:p>
          <a:p>
            <a:pPr algn="ctr"/>
            <a:r>
              <a:rPr sz="2000" b="1">
                <a:solidFill>
                  <a:srgbClr val="0F172A"/>
                </a:solidFill>
              </a:rPr>
              <a:t>Random Forest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005840"/>
            <a:ext cx="27432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  <a:r>
              <a:rPr sz="1200" b="1">
                <a:solidFill>
                  <a:srgbClr val="475569"/>
                </a:solidFill>
              </a:rPr>
              <a:t>Split</a:t>
            </a:r>
          </a:p>
          <a:p>
            <a:pPr algn="ctr"/>
            <a:r>
              <a:rPr sz="2000" b="1">
                <a:solidFill>
                  <a:srgbClr val="0F172A"/>
                </a:solidFill>
              </a:rPr>
              <a:t>78 /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0" y="1005840"/>
            <a:ext cx="23317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  <a:r>
              <a:rPr sz="1200" b="1">
                <a:solidFill>
                  <a:srgbClr val="475569"/>
                </a:solidFill>
              </a:rPr>
              <a:t>Encoding</a:t>
            </a:r>
          </a:p>
          <a:p>
            <a:pPr algn="ctr"/>
            <a:r>
              <a:rPr sz="2000" b="1">
                <a:solidFill>
                  <a:srgbClr val="0F172A"/>
                </a:solidFill>
              </a:rPr>
              <a:t>One-hot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3464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F172A"/>
                </a:solidFill>
              </a:defRPr>
            </a:pPr>
            <a:r>
              <a:t>City, restaurant type, cuisine, channel, payment, traffic, weather</a:t>
            </a:r>
          </a:p>
          <a:p>
            <a:pPr>
              <a:defRPr sz="1500">
                <a:solidFill>
                  <a:srgbClr val="0F172A"/>
                </a:solidFill>
              </a:defRPr>
            </a:pPr>
            <a:r>
              <a:t>Order hour, distance, prep time, order value, weekend flag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468880"/>
            <a:ext cx="4846320" cy="210312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  <a:r>
              <a:rPr sz="1200" b="1">
                <a:solidFill>
                  <a:srgbClr val="475569"/>
                </a:solidFill>
              </a:rPr>
              <a:t>Why this model works</a:t>
            </a:r>
          </a:p>
          <a:p>
            <a:pPr algn="ctr"/>
            <a:r>
              <a:rPr sz="2000" b="1">
                <a:solidFill>
                  <a:srgbClr val="0F172A"/>
                </a:solidFill>
              </a:rPr>
              <a:t>It handles mixed data types well and captures non-linear delay patterns.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008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Predictive Classification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137160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2E8F0"/>
                </a:solidFill>
              </a:rPr>
              <a:t>How well the model works</a:t>
            </a:r>
          </a:p>
        </p:txBody>
      </p:sp>
      <p:pic>
        <p:nvPicPr>
          <p:cNvPr id="5" name="Picture 4" descr="clf_metrics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4389120" cy="2377440"/>
          </a:xfrm>
          <a:prstGeom prst="rect">
            <a:avLst/>
          </a:prstGeom>
        </p:spPr>
      </p:pic>
      <p:pic>
        <p:nvPicPr>
          <p:cNvPr id="6" name="Picture 5" descr="clf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1097280"/>
            <a:ext cx="3566160" cy="2834640"/>
          </a:xfrm>
          <a:prstGeom prst="rect">
            <a:avLst/>
          </a:prstGeom>
        </p:spPr>
      </p:pic>
      <p:pic>
        <p:nvPicPr>
          <p:cNvPr id="7" name="Picture 6" descr="clf_feature_import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0" y="1097280"/>
            <a:ext cx="2880360" cy="2834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3977639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F172A"/>
                </a:solidFill>
              </a:defRPr>
            </a:pPr>
            <a:r>
              <a:t>Distance and prep time are the dominant predictors.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Traffic and storm conditions push the model toward late delivery.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The model is strong enough to support early warning flags.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008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Creativity and Innovative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137160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2E8F0"/>
                </a:solidFill>
              </a:rPr>
              <a:t>Beyond the template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3566160" cy="14630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  <a:r>
              <a:rPr sz="1200" b="1">
                <a:solidFill>
                  <a:srgbClr val="475569"/>
                </a:solidFill>
              </a:rPr>
              <a:t>1. SLA scorecards</a:t>
            </a:r>
          </a:p>
          <a:p>
            <a:pPr algn="ctr"/>
            <a:r>
              <a:rPr sz="2000" b="1">
                <a:solidFill>
                  <a:srgbClr val="0F172A"/>
                </a:solidFill>
              </a:rPr>
              <a:t>Show city-level lateness daily so managers can react fast.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097280"/>
            <a:ext cx="3566160" cy="14630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  <a:r>
              <a:rPr sz="1200" b="1">
                <a:solidFill>
                  <a:srgbClr val="475569"/>
                </a:solidFill>
              </a:rPr>
              <a:t>2. Weather triggers</a:t>
            </a:r>
          </a:p>
          <a:p>
            <a:pPr algn="ctr"/>
            <a:r>
              <a:rPr sz="2000" b="1">
                <a:solidFill>
                  <a:srgbClr val="0F172A"/>
                </a:solidFill>
              </a:rPr>
              <a:t>Add automatic buffers when rain or storms appear.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097280"/>
            <a:ext cx="3566160" cy="14630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  <a:r>
              <a:rPr sz="1200" b="1">
                <a:solidFill>
                  <a:srgbClr val="475569"/>
                </a:solidFill>
              </a:rPr>
              <a:t>3. Zone balancing</a:t>
            </a:r>
          </a:p>
          <a:p>
            <a:pPr algn="ctr"/>
            <a:r>
              <a:rPr sz="2000" b="1">
                <a:solidFill>
                  <a:srgbClr val="0F172A"/>
                </a:solidFill>
              </a:rPr>
              <a:t>Shift drivers to hotspots before the late-order spike.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F172A"/>
                </a:solidFill>
              </a:defRPr>
            </a:pPr>
            <a:r>
              <a:t>Build a simple SLA alert rule: if traffic is High and weather is Rain, escalate the order.</a:t>
            </a:r>
          </a:p>
          <a:p>
            <a:pPr>
              <a:defRPr sz="1500">
                <a:solidFill>
                  <a:srgbClr val="0F172A"/>
                </a:solidFill>
              </a:defRPr>
            </a:pPr>
            <a:r>
              <a:t>Prioritize late-risk cities first, not just the biggest cities.</a:t>
            </a:r>
          </a:p>
          <a:p>
            <a:pPr>
              <a:defRPr sz="1500">
                <a:solidFill>
                  <a:srgbClr val="0F172A"/>
                </a:solidFill>
              </a:defRPr>
            </a:pPr>
            <a:r>
              <a:t>Use the map and dashboard together to move from insight to action.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008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0" y="137160"/>
            <a:ext cx="4114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E2E8F0"/>
                </a:solidFill>
              </a:rPr>
              <a:t>Final takeaway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10972800" cy="137160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01600" bIns="101600"/>
          <a:lstStyle/>
          <a:p>
            <a:pPr algn="ctr"/>
            <a:r>
              <a:rPr sz="1200" b="1">
                <a:solidFill>
                  <a:srgbClr val="475569"/>
                </a:solidFill>
              </a:rPr>
              <a:t>What the project shows</a:t>
            </a:r>
          </a:p>
          <a:p>
            <a:pPr algn="ctr"/>
            <a:r>
              <a:rPr sz="2000" b="1">
                <a:solidFill>
                  <a:srgbClr val="0F172A"/>
                </a:solidFill>
              </a:rPr>
              <a:t>The workflow connects data cleaning, EDA, SQL, mapping, dashboarding, and classification into one story.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08960"/>
            <a:ext cx="10607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Operations should focus on traffic, weather, and route distance first.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Mumbai is the most stable city; Surat is the most vulnerable.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The predictive model can be used as an early warning layer.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5778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</a:rPr>
              <a:t>Next step: replace the synthetic dataset with your real project data and keep the same presentation structure.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008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75569"/>
                </a:solidFill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